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31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Welkom! Dit is de eindpresentatie van Debug Diner, het console reserveringssysteem gebouwd voor Hogeschool Rotterdam.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kort door de agenda. Benadruk dat we na de slides een live demo zullen 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Jake Darcy is de product owner. Het restaurant heeft 16 tafels en een bar voor in totaal 52 gasten.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HR Bishes bestaat uit 5 developers. Scrum Master roteerde elke sprint. In totaal 107 commits en 62 issues afgehandeld.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stack is volledig .NET 10 gebasseerd. Terminal.GUI biedt een echte UI in de console. SQLite maakt deployment eenvoudig.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architectuur volgt strict het gelaagde model. Cross-cutting concerns zoals logging en DI zijn aparte zorgen. Result&lt;T&gt; zorgt voor nette foutafhandeling.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kernfunctionaliteiten geleverd. Alle user stories uit de backlog zijn opgeleverd en voldoen aan de Definition of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de login-flow en wat er gebeurt als je een wrong password invult. Laat ook de registratie zien.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 stap voor stap door het reserveringsproces. Benadruk de conflictdetectie — je kan geen tafel boeken die al bezet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het verschil tussen een medewerkers- en admin-rol. Admins kunnen gebruikers en menu's beheren.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2 had de meeste commits (45) — dat was de sprint waar de repositories en eerste views gebouwd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Iedere user story vereist unit tests als onderdeel van de Definition of Done. Tests worden uitgevoerd als onderdeel van de PR-review.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hier de volledige demo video af. De video toont de complete flow: registratie → inloggen → reservering maken → beheermodule.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een uitnodiging voor vragen. Verwijs naar de GitHub wiki voor de volledige documentatie.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E8830A">
              <a:alpha val="25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-548640" y="3657600"/>
            <a:ext cx="2011680" cy="2011680"/>
          </a:xfrm>
          <a:prstGeom prst="ellipse">
            <a:avLst/>
          </a:prstGeom>
          <a:solidFill>
            <a:srgbClr val="0D7377">
              <a:alpha val="30000"/>
            </a:srgbClr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DINER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A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Reserveringssysteem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4114800" cy="0"/>
          </a:xfrm>
          <a:prstGeom prst="line">
            <a:avLst/>
          </a:prstGeom>
          <a:noFill/>
          <a:ln w="31750">
            <a:solidFill>
              <a:srgbClr val="E8830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Hogeschool Rotterdam  ·  Software Development — Project B  ·  Juni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Door: Soufian Manai · Lars Werner · Quintin Blume · Randy </a:t>
            </a:r>
            <a:r>
              <a:rPr lang="en-US" sz="1100" dirty="0" err="1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Sheombar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4572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Presentatie </a:t>
            </a:r>
            <a:r>
              <a:rPr lang="en-US" sz="1000" dirty="0" err="1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0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</a:t>
            </a:r>
            <a:r>
              <a:rPr lang="en-US" sz="1000" dirty="0" err="1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oplevering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Aanleiding &amp; doelstelling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429000" y="11155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58768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58768" y="1481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developers, 6 sprints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263640" y="11155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93408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Stack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3408" y="1481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.NET 10 · SQLite · Terminal.GUI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3055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94360" y="2240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2221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 model &amp; design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13055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3429000" y="2240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58768" y="2221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Functionaliteiten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58768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kan de applicatie?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13055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6263640" y="2240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93408" y="2221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93408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van de applicatie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55264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594360" y="3364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4128" y="3346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Overzicht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" y="3730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 door 6 sprints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255264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3429000" y="3364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58768" y="3346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58768" y="3730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· FluentAssertions · Moq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255264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6263640" y="3364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693408" y="33467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93408" y="3730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applicatie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Project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Darcy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opent een duurzaam restaurant in Rotterdam gericht op een breed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publiek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studenten, gezinnen en gepensioneerden.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missie: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587752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console-gebaseerde reserveringsapplicatie bouwen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896112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Gebruiksvriendelijk voor klanten én medewerkers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355848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896112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Scrum-aanpak: 6 sprints van 2 weken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868680"/>
            <a:ext cx="3291840" cy="3931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76072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Restaurantindeling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828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tafel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2176272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Middelgr. tafel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22402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22402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2587752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5760720" y="2651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 tafel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2651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2651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60720" y="2999232"/>
            <a:ext cx="2834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760720" y="3063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9480" y="3063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3063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0" y="35478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Arrangementen: 2-, 3- of 4-gangen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optioneel wijnpakket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wisselt maandelijks — vlees, vis, vegetarisch, veganistisch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E8830A">
              <a:alpha val="15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Het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6" y="964692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795530" y="1083564"/>
            <a:ext cx="640080" cy="640080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795530" y="10835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6" y="181508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Soufian Manai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6" y="221742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3" y="96012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3099817" y="1078992"/>
            <a:ext cx="640080" cy="64008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3099817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24913" y="181051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 Werner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3" y="221284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5404104" y="1078992"/>
            <a:ext cx="640080" cy="640080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5404104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1810512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Quintin Blume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21284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42047" y="954779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7708391" y="1073651"/>
            <a:ext cx="640080" cy="64008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7708391" y="1073651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33487" y="1805171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Randy Sheombar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33487" y="2207507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3152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83464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283464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493776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4088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8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7040880" y="3858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Technische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475488" cy="475488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1612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78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10.0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programmeertaal. Modern, type-safe en goed ondersteund voor console-applicaties.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896112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3474720" y="1078992"/>
            <a:ext cx="475488" cy="475488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16128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078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Entity Framework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74720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Lichtgewicht database via EF Core. Geen aparte server nodig — ideaal voor lokaal gebruik.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896112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6309360" y="1078992"/>
            <a:ext cx="475488" cy="47548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16128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078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Terminal.GUI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09360" y="1627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TUI-framework voor een intuïtieve console-interface met navigatie, tabellen en formulieren.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2596896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4"/>
          <p:cNvSpPr/>
          <p:nvPr/>
        </p:nvSpPr>
        <p:spPr>
          <a:xfrm>
            <a:off x="640080" y="2779776"/>
            <a:ext cx="475488" cy="475488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28620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27797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FluentAssertions + Moq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40080" y="332841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Uitgebreide testsuite. Unit tests voor services, repositories en business-logica.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2596896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18"/>
          <p:cNvSpPr/>
          <p:nvPr/>
        </p:nvSpPr>
        <p:spPr>
          <a:xfrm>
            <a:off x="3474720" y="2779776"/>
            <a:ext cx="475488" cy="475488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286207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69080" y="27797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Branch/PR Workflow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474720" y="332841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taak een branch. Pull requests met code reviews voordat code naar main gaat.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2596896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2"/>
          <p:cNvSpPr/>
          <p:nvPr/>
        </p:nvSpPr>
        <p:spPr>
          <a:xfrm>
            <a:off x="6309360" y="2779776"/>
            <a:ext cx="475488" cy="47548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286207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27797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met 6 Sprints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309360" y="332841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2-wekelijkse sprints met sprint planning, reviews en retrospectives.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D7377">
              <a:alpha val="2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·  Architectuur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gelaagd model — elke laag is alleen afhankelijk van de laag eronder.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E8830A">
              <a:alpha val="80000"/>
            </a:srgbClr>
          </a:solidFill>
          <a:ln/>
        </p:spPr>
        <p:txBody>
          <a:bodyPr/>
          <a:lstStyle/>
          <a:p>
            <a:endParaRPr lang="nl-NL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120700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 · navigatie · paginering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28A745">
              <a:alpha val="8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orchestratie · validatie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0D7377">
              <a:alpha val="8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40080" y="26334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6334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Entiteiten · enumeraties · interfaces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640080" y="33467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334670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repos · EF Core · DataSeeder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E53E3E">
              <a:alpha val="80000"/>
            </a:srgbClr>
          </a:solidFill>
          <a:ln/>
        </p:spPr>
        <p:txBody>
          <a:bodyPr/>
          <a:lstStyle/>
          <a:p>
            <a:endParaRPr lang="nl-NL" dirty="0"/>
          </a:p>
        </p:txBody>
      </p:sp>
      <p:sp>
        <p:nvSpPr>
          <p:cNvPr id="18" name="Text 16"/>
          <p:cNvSpPr/>
          <p:nvPr/>
        </p:nvSpPr>
        <p:spPr>
          <a:xfrm>
            <a:off x="640080" y="40599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405993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FluentAssertions</a:t>
            </a: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dirty="0" err="1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dirty="0" err="1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r>
              <a:rPr lang="en-US" sz="1100" dirty="0">
                <a:solidFill>
                  <a:srgbClr val="E5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170432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>
              <a:alpha val="92000"/>
            </a:srgbClr>
          </a:solidFill>
          <a:ln/>
          <a:effectLst>
            <a:outerShdw blurRad="1270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516636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1801368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5376672" y="1709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19476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Abstractielaag boven de database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66360" y="2276856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5376672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Result&lt;T&gt;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2423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Expliciete foutafhandeling zonder exceptions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66360" y="2752344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376672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76672" y="28986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Loskoppeling van componenten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66360" y="3227832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376672" y="3136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SessionContext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33741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Bijhouden van de ingelogde gebruiker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3703320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5" name="Text 33"/>
          <p:cNvSpPr/>
          <p:nvPr/>
        </p:nvSpPr>
        <p:spPr>
          <a:xfrm>
            <a:off x="5376672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DataSeeder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76672" y="38496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Demo-data bij eerste opstart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66360" y="4178808"/>
            <a:ext cx="118872" cy="11887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5376672" y="4087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Logging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76672" y="4325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Gestructureerde logging naar bestand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·  Functionaliteiten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96112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576072" y="1042416"/>
            <a:ext cx="438912" cy="438912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247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042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" y="15544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Registratie &amp; login voor klanten, medewerkers en admins. Rolgebaseerde toegang.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51176" y="896112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6"/>
          <p:cNvSpPr/>
          <p:nvPr/>
        </p:nvSpPr>
        <p:spPr>
          <a:xfrm>
            <a:off x="2715768" y="1042416"/>
            <a:ext cx="438912" cy="43891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11247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4408" y="1042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Reserveringen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15768" y="15544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Tafel reserveren op datum, tijdstip en aantal personen met real-time beschikbaarheid.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90872" y="896112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0"/>
          <p:cNvSpPr/>
          <p:nvPr/>
        </p:nvSpPr>
        <p:spPr>
          <a:xfrm>
            <a:off x="4855464" y="1042416"/>
            <a:ext cx="438912" cy="43891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247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04104" y="1042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Arrangementen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55464" y="15544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2-, 3- of 4-gangen menu kiezen met optioneel wijnpakket en prijsoverzicht.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30568" y="896112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4"/>
          <p:cNvSpPr/>
          <p:nvPr/>
        </p:nvSpPr>
        <p:spPr>
          <a:xfrm>
            <a:off x="6995160" y="1042416"/>
            <a:ext cx="438912" cy="438912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11247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1042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Tafeloverzicht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995160" y="15544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Beschikbare tafels tonen met paginering. Filteren op datum en groepsgrootte.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11480" y="2468880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4" name="Shape 18"/>
          <p:cNvSpPr/>
          <p:nvPr/>
        </p:nvSpPr>
        <p:spPr>
          <a:xfrm>
            <a:off x="576072" y="2615184"/>
            <a:ext cx="438912" cy="43891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2697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24712" y="26151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 reserveringen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76072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Reserveringen inzien, aanpassen en annuleren — voor klant én medewerker.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551176" y="2468880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2"/>
          <p:cNvSpPr/>
          <p:nvPr/>
        </p:nvSpPr>
        <p:spPr>
          <a:xfrm>
            <a:off x="2715768" y="2615184"/>
            <a:ext cx="438912" cy="438912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8064" y="26974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264408" y="26151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Beheermodule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2715768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medewerkers beheren gebruikers, menus en tafelbezetting.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690872" y="2468880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4" name="Shape 26"/>
          <p:cNvSpPr/>
          <p:nvPr/>
        </p:nvSpPr>
        <p:spPr>
          <a:xfrm>
            <a:off x="4855464" y="2615184"/>
            <a:ext cx="438912" cy="438912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69748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404104" y="26151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Zoeken &amp; Sorteren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855464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Zoeken op naam, datum of tafel. Sorteren op meerdere kolommen met paginering.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830568" y="2468880"/>
            <a:ext cx="20299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9" name="Shape 30"/>
          <p:cNvSpPr/>
          <p:nvPr/>
        </p:nvSpPr>
        <p:spPr>
          <a:xfrm>
            <a:off x="6995160" y="2615184"/>
            <a:ext cx="438912" cy="438912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269748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543800" y="26151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Tijdslots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995160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 tijdslots per dag. Conflictdetectie voorkomt dubbele boekingen.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·  Demo — Login &amp; Registratie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303520" cy="3977640"/>
          </a:xfrm>
          <a:prstGeom prst="rect">
            <a:avLst/>
          </a:prstGeom>
          <a:solidFill>
            <a:srgbClr val="E8EDF5"/>
          </a:solidFill>
          <a:ln w="19050">
            <a:solidFill>
              <a:srgbClr val="B0BBCF"/>
            </a:solidFill>
            <a:prstDash val="dash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3035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9320" y="868680"/>
            <a:ext cx="2880360" cy="39776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172200" y="9875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ziet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2646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364224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Registratie met naam, e-mail en wachtwoord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92938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364224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als klant, medewerker of admin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43230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364224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Rolgebaseerde toegang na login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93522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364224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op invoer en unieke e-mail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4224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AF09FA8E-0CAB-BA3F-6289-128BF63B3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38" y="937457"/>
            <a:ext cx="2531328" cy="1906736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9584358B-6898-7D0B-4DFF-968E5819F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80" y="2935224"/>
            <a:ext cx="2431479" cy="1795995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D06F0FE3-E84F-4EBF-B32F-51835A4FC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238" y="2946760"/>
            <a:ext cx="2531327" cy="1784459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62B59739-F31D-AACF-C326-EB25988F2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480" y="959711"/>
            <a:ext cx="2420179" cy="18844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·  Demo — Reservering Maken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303520" cy="3977640"/>
          </a:xfrm>
          <a:prstGeom prst="rect">
            <a:avLst/>
          </a:prstGeom>
          <a:solidFill>
            <a:srgbClr val="E8EDF5"/>
          </a:solidFill>
          <a:ln w="19050">
            <a:solidFill>
              <a:srgbClr val="B0BBCF"/>
            </a:solidFill>
            <a:prstDash val="dash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3035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Voeg hier een screenshot in van het reserveringsscherm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9320" y="868680"/>
            <a:ext cx="2880360" cy="39776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172200" y="9875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ziet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2646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364224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&amp; tijdslot kiezen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92938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364224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Aantal personen opgeven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43230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364224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Beschikbare tafels tonen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93522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364224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 selecteren</a:t>
            </a:r>
            <a:endParaRPr lang="en-US" sz="1100" dirty="0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D9800D1A-3868-D842-6DA0-084317F97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3" y="987551"/>
            <a:ext cx="5083722" cy="3716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·  Demo — Beheermodule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303520" cy="3977640"/>
          </a:xfrm>
          <a:prstGeom prst="rect">
            <a:avLst/>
          </a:prstGeom>
          <a:solidFill>
            <a:srgbClr val="E8EDF5"/>
          </a:solidFill>
          <a:ln w="19050">
            <a:solidFill>
              <a:srgbClr val="B0BBCF"/>
            </a:solidFill>
            <a:prstDash val="dash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3035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9320" y="868680"/>
            <a:ext cx="2880360" cy="397764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172200" y="9875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ziet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2646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364224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alle reserveringen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92938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6364224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Reserveringen aanpassen / annuleren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43230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6364224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Gebruikersbeheer (admin)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935224"/>
            <a:ext cx="109728" cy="109728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364224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Menuwijziging per maand</a:t>
            </a:r>
            <a:endParaRPr lang="en-US" sz="1100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5FA1F20C-A1CD-8BC6-BBE8-DE400593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6" y="955548"/>
            <a:ext cx="2558544" cy="1892808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0A555358-0940-313D-53AA-EBA12798F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057" y="971550"/>
            <a:ext cx="2487566" cy="1860804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AE4F29A7-F0E6-138E-E382-23E3056BD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17" y="2909944"/>
            <a:ext cx="2558543" cy="1874788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BC6BAF50-C1C9-25ED-1877-078224385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1057" y="2909944"/>
            <a:ext cx="2487566" cy="18747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·  Sprint Overzicht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325880" cy="3200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781812" y="1024128"/>
            <a:ext cx="585216" cy="585216"/>
          </a:xfrm>
          <a:prstGeom prst="ellipse">
            <a:avLst/>
          </a:prstGeom>
          <a:solidFill>
            <a:srgbClr val="6B7A9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781812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" y="170992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22 mrt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0372" y="21214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90372" y="2121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commits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fundament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65376" y="914400"/>
            <a:ext cx="1325880" cy="3200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2235708" y="1024128"/>
            <a:ext cx="585216" cy="585216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2235708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38528" y="170992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mrt – 5 apr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4268" y="21214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2144268" y="2121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commits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56816" y="25420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views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9272" y="914400"/>
            <a:ext cx="1325880" cy="3200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3689604" y="1024128"/>
            <a:ext cx="585216" cy="585216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3689604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92424" y="170992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19 apr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98164" y="21214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3598164" y="2121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commits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10712" y="25420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Werkende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914400"/>
            <a:ext cx="1325880" cy="3200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5143500" y="1024128"/>
            <a:ext cx="585216" cy="585216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143500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170992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apr – 3 mei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52060" y="21214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5052060" y="2121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608" y="25420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boekingen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7064" y="914400"/>
            <a:ext cx="1325880" cy="3200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Shape 34"/>
          <p:cNvSpPr/>
          <p:nvPr/>
        </p:nvSpPr>
        <p:spPr>
          <a:xfrm>
            <a:off x="6597396" y="1024128"/>
            <a:ext cx="585216" cy="585216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6597396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0216" y="170992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17 mei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05956" y="21214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0" name="Text 38"/>
          <p:cNvSpPr/>
          <p:nvPr/>
        </p:nvSpPr>
        <p:spPr>
          <a:xfrm>
            <a:off x="6505956" y="2121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commits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18504" y="25420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Update/delete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UI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80960" y="914400"/>
            <a:ext cx="1325880" cy="32004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4" name="Shape 42"/>
          <p:cNvSpPr/>
          <p:nvPr/>
        </p:nvSpPr>
        <p:spPr>
          <a:xfrm>
            <a:off x="8051292" y="1024128"/>
            <a:ext cx="585216" cy="585216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8051292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54112" y="1709928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mei – 1 jun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59852" y="21214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8" name="Text 46"/>
          <p:cNvSpPr/>
          <p:nvPr/>
        </p:nvSpPr>
        <p:spPr>
          <a:xfrm>
            <a:off x="7959852" y="212140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commits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72400" y="2542032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Zoeken/sorteren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tijdslots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" y="4251960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1C2541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52" name="Text 50"/>
          <p:cNvSpPr/>
          <p:nvPr/>
        </p:nvSpPr>
        <p:spPr>
          <a:xfrm>
            <a:off x="548640" y="42519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Totaal: 107 commits  ·  6 sprints  ·  12 weken  ·  9 mrt 2026 – 1 jun 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D7377">
              <a:alpha val="18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· 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Kwaliteitsborging via xUnit + FluentAssertions + Moq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640080" y="1353312"/>
            <a:ext cx="502920" cy="502920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353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xUnit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61872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2331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0584" cy="100584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2" name="Text 9"/>
          <p:cNvSpPr/>
          <p:nvPr/>
        </p:nvSpPr>
        <p:spPr>
          <a:xfrm>
            <a:off x="841248" y="208483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Geïsoleerde unit tests per klasse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2779776"/>
            <a:ext cx="100584" cy="100584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4" name="Text 11"/>
          <p:cNvSpPr/>
          <p:nvPr/>
        </p:nvSpPr>
        <p:spPr>
          <a:xfrm>
            <a:off x="841248" y="272491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Theory attributes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3419856"/>
            <a:ext cx="100584" cy="100584"/>
          </a:xfrm>
          <a:prstGeom prst="ellipse">
            <a:avLst/>
          </a:prstGeom>
          <a:solidFill>
            <a:srgbClr val="E8830A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6" name="Text 13"/>
          <p:cNvSpPr/>
          <p:nvPr/>
        </p:nvSpPr>
        <p:spPr>
          <a:xfrm>
            <a:off x="841248" y="336499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CI / lokaal via dotnet test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37560" y="1207008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5"/>
          <p:cNvSpPr/>
          <p:nvPr/>
        </p:nvSpPr>
        <p:spPr>
          <a:xfrm>
            <a:off x="3520440" y="1353312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44475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142232" y="1353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FluentAssertions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142232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library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520440" y="2011680"/>
            <a:ext cx="2331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Shape 19"/>
          <p:cNvSpPr/>
          <p:nvPr/>
        </p:nvSpPr>
        <p:spPr>
          <a:xfrm>
            <a:off x="3538728" y="2139696"/>
            <a:ext cx="100584" cy="10058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4" name="Text 20"/>
          <p:cNvSpPr/>
          <p:nvPr/>
        </p:nvSpPr>
        <p:spPr>
          <a:xfrm>
            <a:off x="3721608" y="208483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Leesbare assertions: .Should().Be()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538728" y="2779776"/>
            <a:ext cx="100584" cy="10058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6" name="Text 22"/>
          <p:cNvSpPr/>
          <p:nvPr/>
        </p:nvSpPr>
        <p:spPr>
          <a:xfrm>
            <a:off x="3721608" y="272491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Rijke foutmeldingen bij failures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538728" y="3419856"/>
            <a:ext cx="100584" cy="10058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8" name="Text 24"/>
          <p:cNvSpPr/>
          <p:nvPr/>
        </p:nvSpPr>
        <p:spPr>
          <a:xfrm>
            <a:off x="3721608" y="336499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naadloos samen met xUnit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17920" y="1207008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0" name="Shape 26"/>
          <p:cNvSpPr/>
          <p:nvPr/>
        </p:nvSpPr>
        <p:spPr>
          <a:xfrm>
            <a:off x="6400800" y="135331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44752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22592" y="1353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Moq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7022592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 framework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400800" y="2011680"/>
            <a:ext cx="2331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Shape 30"/>
          <p:cNvSpPr/>
          <p:nvPr/>
        </p:nvSpPr>
        <p:spPr>
          <a:xfrm>
            <a:off x="6419088" y="2139696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6" name="Text 31"/>
          <p:cNvSpPr/>
          <p:nvPr/>
        </p:nvSpPr>
        <p:spPr>
          <a:xfrm>
            <a:off x="6601968" y="208483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gemockt in service-tests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19088" y="2779776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8" name="Text 33"/>
          <p:cNvSpPr/>
          <p:nvPr/>
        </p:nvSpPr>
        <p:spPr>
          <a:xfrm>
            <a:off x="6601968" y="272491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Isoleert de te testen klasse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419088" y="3419856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40" name="Text 35"/>
          <p:cNvSpPr/>
          <p:nvPr/>
        </p:nvSpPr>
        <p:spPr>
          <a:xfrm>
            <a:off x="6601968" y="336499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dat methoden aangeroepen worden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tests slagen ✓  ·  Definition of Done vereist geslaagde tests vóór merge naar main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·  Demo Video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4690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walkthrough van de applicatie — van registratie tot reserveringsbeheer</a:t>
            </a:r>
            <a:endParaRPr lang="en-US" sz="1200" dirty="0"/>
          </a:p>
        </p:txBody>
      </p:sp>
      <p:pic>
        <p:nvPicPr>
          <p:cNvPr id="8" name="debugdiner-demonstratie-compressed">
            <a:hlinkClick r:id="" action="ppaction://media"/>
            <a:extLst>
              <a:ext uri="{FF2B5EF4-FFF2-40B4-BE49-F238E27FC236}">
                <a16:creationId xmlns:a16="http://schemas.microsoft.com/office/drawing/2014/main" id="{B3A287A2-0490-E0E9-81A8-AD4C6D3C73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7200" y="791351"/>
            <a:ext cx="6211614" cy="35607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8830A">
              <a:alpha val="12000"/>
            </a:srgbClr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7377">
              <a:alpha val="15000"/>
            </a:srgbClr>
          </a:solidFill>
          <a:ln/>
        </p:spPr>
        <p:txBody>
          <a:bodyPr/>
          <a:lstStyle/>
          <a:p>
            <a:endParaRPr lang="nl-N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Bedankt voor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uw aandacht!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25400">
            <a:solidFill>
              <a:srgbClr val="E8830A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A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github.com/Daemonium-Development/HR_Reservations-n-co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HR Bishes  ·  Hogeschool Rotterdam  ·  Juni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1149</Words>
  <Application>Microsoft Macintosh PowerPoint</Application>
  <PresentationFormat>Diavoorstelling (16:9)</PresentationFormat>
  <Paragraphs>239</Paragraphs>
  <Slides>14</Slides>
  <Notes>14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 Diner — Final Product Presentation</dc:title>
  <dc:subject>PptxGenJS Presentation</dc:subject>
  <dc:creator>BRANDRS</dc:creator>
  <cp:lastModifiedBy>Quintin | Brandrs</cp:lastModifiedBy>
  <cp:revision>4</cp:revision>
  <dcterms:created xsi:type="dcterms:W3CDTF">2026-06-15T08:36:47Z</dcterms:created>
  <dcterms:modified xsi:type="dcterms:W3CDTF">2026-06-15T11:15:39Z</dcterms:modified>
</cp:coreProperties>
</file>